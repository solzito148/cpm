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914400"/>
            <a:ext cx="4389120" cy="4389120"/>
          </a:xfrm>
          <a:prstGeom prst="ellipse">
            <a:avLst/>
          </a:prstGeom>
          <a:solidFill>
            <a:srgbClr val="D6E4F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754880"/>
            <a:ext cx="3200400" cy="3200400"/>
          </a:xfrm>
          <a:prstGeom prst="ellipse">
            <a:avLst/>
          </a:prstGeom>
          <a:solidFill>
            <a:srgbClr val="D0F0F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>
                <a:solidFill>
                  <a:srgbClr val="1B2A4A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3483FA"/>
                </a:solidFill>
                <a:latin typeface="Segoe UI"/>
              </a:defRPr>
            </a:pPr>
            <a:r>
              <a:t>Status Update  |  May 29,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03320"/>
            <a:ext cx="5029200" cy="27432"/>
          </a:xfrm>
          <a:prstGeom prst="rect">
            <a:avLst/>
          </a:prstGeom>
          <a:solidFill>
            <a:srgbClr val="C0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66666"/>
                </a:solidFill>
                <a:latin typeface="Segoe UI"/>
              </a:defRPr>
            </a:pPr>
            <a:r>
              <a:t>28 items tracked · SCI-01 through SCI-30</a:t>
            </a:r>
          </a:p>
        </p:txBody>
      </p:sp>
      <p:pic>
        <p:nvPicPr>
          <p:cNvPr id="9" name="Picture 8" descr="a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5532120"/>
            <a:ext cx="2743200" cy="15001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20116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0">
                <a:solidFill>
                  <a:srgbClr val="00BCD4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9326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RESUME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560320" cy="64008"/>
          </a:xfrm>
          <a:prstGeom prst="rect">
            <a:avLst/>
          </a:prstGeom>
          <a:solidFill>
            <a:srgbClr val="00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00A65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666666"/>
                </a:solidFill>
                <a:latin typeface="Segoe UI"/>
              </a:defRPr>
            </a:pPr>
            <a:r>
              <a:t>Done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28016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280160"/>
            <a:ext cx="2560320" cy="64008"/>
          </a:xfrm>
          <a:prstGeom prst="rect">
            <a:avLst/>
          </a:prstGeom>
          <a:solidFill>
            <a:srgbClr val="9C7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50876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9C7CDB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33172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666666"/>
                </a:solidFill>
                <a:latin typeface="Segoe UI"/>
              </a:defRPr>
            </a:pPr>
            <a:r>
              <a:t>Ready to move to RPC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2560320" cy="64008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0876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3483FA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33172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666666"/>
                </a:solidFill>
                <a:latin typeface="Segoe UI"/>
              </a:defRPr>
            </a:pPr>
            <a:r>
              <a:t>In Progress / Analysis / Dev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128016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1280160"/>
            <a:ext cx="2560320" cy="64008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150876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9E9E9E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33172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666666"/>
                </a:solidFill>
                <a:latin typeface="Segoe UI"/>
              </a:defRPr>
            </a:pPr>
            <a:r>
              <a:t>To 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1371600"/>
            <a:ext cx="118872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1417320"/>
            <a:ext cx="1188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1874519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BCD4"/>
                </a:solidFill>
                <a:latin typeface="Segoe UI"/>
              </a:defRPr>
            </a:pPr>
            <a:r>
              <a:t>Total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1546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2A4A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611880"/>
            <a:ext cx="1147572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  <a:defRPr sz="1200" b="0">
                <a:solidFill>
                  <a:srgbClr val="666666"/>
                </a:solidFill>
                <a:latin typeface="Segoe UI"/>
              </a:defRPr>
            </a:pPr>
            <a:r>
              <a:t>•  SCI-01 is done (1 completed item).</a:t>
            </a:r>
          </a:p>
          <a:p>
            <a:pPr algn="l">
              <a:lnSpc>
                <a:spcPct val="125000"/>
              </a:lnSpc>
              <a:defRPr sz="1200" b="0">
                <a:solidFill>
                  <a:srgbClr val="666666"/>
                </a:solidFill>
                <a:latin typeface="Segoe UI"/>
              </a:defRPr>
            </a:pPr>
            <a:r>
              <a:t>•  Ready to move to RPC (8): SCI-02, SCI-03, SCI-04, SCI-06, SCI-07, SCI-09, SCI-20, SCI-22. Deployment target: 02-Jun · CHG1026240.</a:t>
            </a:r>
          </a:p>
          <a:p>
            <a:pPr algn="l">
              <a:lnSpc>
                <a:spcPct val="125000"/>
              </a:lnSpc>
              <a:defRPr sz="1200" b="0">
                <a:solidFill>
                  <a:srgbClr val="666666"/>
                </a:solidFill>
                <a:latin typeface="Segoe UI"/>
              </a:defRPr>
            </a:pPr>
            <a:r>
              <a:t>•  In Progress / Analysis / Development (7): SCI-10, SCI-12, SCI-18, SCI-19, SCI-23, SCI-24, SCI-25.</a:t>
            </a:r>
          </a:p>
          <a:p>
            <a:pPr algn="l">
              <a:lnSpc>
                <a:spcPct val="125000"/>
              </a:lnSpc>
              <a:defRPr sz="1200" b="0">
                <a:solidFill>
                  <a:srgbClr val="666666"/>
                </a:solidFill>
                <a:latin typeface="Segoe UI"/>
              </a:defRPr>
            </a:pPr>
            <a:r>
              <a:t>•  To Do backlog (12): SCI-05, SCI-08, SCI-11, SCI-13, SCI-14, SCI-15, SCI-21, SCI-26, SCI-27, SCI-28, SCI-28, SCI-30.</a:t>
            </a:r>
          </a:p>
          <a:p>
            <a:pPr algn="l">
              <a:lnSpc>
                <a:spcPct val="125000"/>
              </a:lnSpc>
              <a:defRPr sz="1200" b="0">
                <a:solidFill>
                  <a:srgbClr val="666666"/>
                </a:solidFill>
                <a:latin typeface="Segoe UI"/>
              </a:defRPr>
            </a:pPr>
            <a:r>
              <a:t>•  Priority 1 focus: SCI-04, SCI-06, SCI-07, SCI-09, SCI-23, SCI-24.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20116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0">
                <a:solidFill>
                  <a:srgbClr val="00BCD4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9326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READY TO MOVE TO RPC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1010411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4434840"/>
                <a:gridCol w="1417320"/>
                <a:gridCol w="1234440"/>
                <a:gridCol w="658368"/>
                <a:gridCol w="658368"/>
                <a:gridCol w="1042415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SCI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Task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RITM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Assigned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Due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Deploy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CHG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In the Procurement Foresting, the "Upload Provisional Cost" Download Template…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RITM1173001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22-May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02-Jun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CHG1026240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Provisional Cost Record Upload - 5 fields template issue / Update the template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RITM1173004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22-May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02-Jun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CHG1026240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Procurement Forecasting - Remaining Payments Year Adjustments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Without RITM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22-May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02-Jun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CHG1026240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Optional WBS element in Provisional Records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Without RITM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22-May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02-Jun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CHG1026240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SCI-07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Optional Vendor in Provisional Record manual creation (solves REQ1171550)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REQ1171550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22-May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02-Jun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CHG1026240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Automatic Reduction of Provisional Cost Records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23-May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02-Jun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CHG1026240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Invalidate forecasting status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Without RITM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23-May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02-Jun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CHG1026240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RITM1183406 - Filtering of down payments in procure forescating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RITM1183406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23-May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02-Jun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CHG1026240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20116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0">
                <a:solidFill>
                  <a:srgbClr val="00BCD4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9326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IN PROGRESS — ANALYSIS &amp;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53212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64008" cy="1481328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3776" y="1069848"/>
            <a:ext cx="713232" cy="2743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069848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SCI-10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61872" y="1069848"/>
            <a:ext cx="347472" cy="274320"/>
          </a:xfrm>
          <a:prstGeom prst="roundRect">
            <a:avLst/>
          </a:prstGeom>
          <a:solidFill>
            <a:srgbClr val="34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1069848"/>
            <a:ext cx="34747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069848"/>
            <a:ext cx="3063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Requestor: Jenn / Julia · Assigned: Evelyn Rocha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399032"/>
            <a:ext cx="5257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2A4A"/>
                </a:solidFill>
                <a:latin typeface="Segoe UI"/>
              </a:defRPr>
            </a:pPr>
            <a:r>
              <a:t>Adjustments to the Procurement Forecasting Massive app (remaining payments)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1856232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Functional Spec in Done. Next Step: development with Antonio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2130552"/>
            <a:ext cx="21945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3483FA"/>
                </a:solidFill>
                <a:latin typeface="Segoe UI"/>
              </a:defRPr>
            </a:pPr>
            <a:r>
              <a:t>In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2130552"/>
            <a:ext cx="1417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FF7733"/>
                </a:solidFill>
                <a:latin typeface="Segoe UI"/>
              </a:defRPr>
            </a:pPr>
            <a:r>
              <a:t>23-May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960120"/>
            <a:ext cx="553212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960120"/>
            <a:ext cx="64008" cy="1481328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0216" y="1069848"/>
            <a:ext cx="713232" cy="2743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069848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SCI-12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1069848"/>
            <a:ext cx="347472" cy="274320"/>
          </a:xfrm>
          <a:prstGeom prst="roundRect">
            <a:avLst/>
          </a:prstGeom>
          <a:solidFill>
            <a:srgbClr val="34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68312" y="1069848"/>
            <a:ext cx="34747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069848"/>
            <a:ext cx="3063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Requestor: Alec Bone · Assigned: Evelyn Rocha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1399032"/>
            <a:ext cx="5257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2A4A"/>
                </a:solidFill>
                <a:latin typeface="Segoe UI"/>
              </a:defRPr>
            </a:pPr>
            <a:r>
              <a:t>Mass Procurement Forecasting - Eye Sore Adjustments (mail with massive change)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1856232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Unique FS 456 y 458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2130552"/>
            <a:ext cx="21945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3483FA"/>
                </a:solidFill>
                <a:latin typeface="Segoe UI"/>
              </a:defRPr>
            </a:pPr>
            <a:r>
              <a:t>In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9" y="2130552"/>
            <a:ext cx="1417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FF7733"/>
                </a:solidFill>
                <a:latin typeface="Segoe UI"/>
              </a:defRPr>
            </a:pPr>
            <a:r>
              <a:t>23-May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642616"/>
            <a:ext cx="553212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2642616"/>
            <a:ext cx="64008" cy="1481328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93776" y="2752344"/>
            <a:ext cx="713232" cy="2743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" y="2752344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SCI-18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2752344"/>
            <a:ext cx="3063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Requestor: — · Assigned: Camilo Amaury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" y="3081528"/>
            <a:ext cx="5257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2A4A"/>
                </a:solidFill>
                <a:latin typeface="Segoe UI"/>
              </a:defRPr>
            </a:pPr>
            <a:r>
              <a:t>Procurement forecasting - Individual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" y="3538728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Functional Spec in Done. Next Step: development with Antonio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" y="3813048"/>
            <a:ext cx="21945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3483FA"/>
                </a:solidFill>
                <a:latin typeface="Segoe UI"/>
              </a:defRPr>
            </a:pPr>
            <a:r>
              <a:t>In Progress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399" y="3813048"/>
            <a:ext cx="1417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9E9E9E"/>
                </a:solidFill>
                <a:latin typeface="Segoe UI"/>
              </a:defRPr>
            </a:pPr>
            <a:r>
              <a:t>No due date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2642616"/>
            <a:ext cx="553212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2642616"/>
            <a:ext cx="64008" cy="1481328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00216" y="2752344"/>
            <a:ext cx="713232" cy="2743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0216" y="2752344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SCI-19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2752344"/>
            <a:ext cx="3063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Requestor: — · Assigned: Pablo Bianco/Camilo Amaury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0216" y="3081528"/>
            <a:ext cx="5257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2A4A"/>
                </a:solidFill>
                <a:latin typeface="Segoe UI"/>
              </a:defRPr>
            </a:pPr>
            <a:r>
              <a:t>Rol assigment - ask with AES Security Team if it´s ok to assign role to Caily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6" y="3538728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Request sent to Diego 11-May.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0216" y="3813048"/>
            <a:ext cx="21945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3483FA"/>
                </a:solidFill>
                <a:latin typeface="Segoe UI"/>
              </a:defRPr>
            </a:pPr>
            <a:r>
              <a:t>In Progress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39" y="3813048"/>
            <a:ext cx="1417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9E9E9E"/>
                </a:solidFill>
                <a:latin typeface="Segoe UI"/>
              </a:defRPr>
            </a:pPr>
            <a:r>
              <a:t>No due date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325112"/>
            <a:ext cx="553212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4325112"/>
            <a:ext cx="64008" cy="1481328"/>
          </a:xfrm>
          <a:prstGeom prst="rect">
            <a:avLst/>
          </a:prstGeom>
          <a:solidFill>
            <a:srgbClr val="348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93776" y="4434840"/>
            <a:ext cx="713232" cy="2743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" y="4434840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SCI-23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61872" y="4434840"/>
            <a:ext cx="347472" cy="274320"/>
          </a:xfrm>
          <a:prstGeom prst="roundRect">
            <a:avLst/>
          </a:prstGeom>
          <a:solidFill>
            <a:srgbClr val="F2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61872" y="4434840"/>
            <a:ext cx="34747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97480" y="4434840"/>
            <a:ext cx="3063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Requestor: Carlos Olivencia · Assigned: Camilo Amaury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" y="4764024"/>
            <a:ext cx="5257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2A4A"/>
                </a:solidFill>
                <a:latin typeface="Segoe UI"/>
              </a:defRPr>
            </a:pPr>
            <a:r>
              <a:t>PO 4501754428 - Sycamore Cross - MILL CREEK RENEWABLES LLC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" y="5221224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Call with Walter report view to get details to create Fiori APP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6" y="5495544"/>
            <a:ext cx="21945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3483FA"/>
                </a:solidFill>
                <a:latin typeface="Segoe UI"/>
              </a:defRPr>
            </a:pPr>
            <a:r>
              <a:t>In Progress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43399" y="5495544"/>
            <a:ext cx="1417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9E9E9E"/>
                </a:solidFill>
                <a:latin typeface="Segoe UI"/>
              </a:defRPr>
            </a:pPr>
            <a:r>
              <a:t>No due date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4325112"/>
            <a:ext cx="553212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4325112"/>
            <a:ext cx="64008" cy="148132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300216" y="4434840"/>
            <a:ext cx="713232" cy="2743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0216" y="4434840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SCI-24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068312" y="4434840"/>
            <a:ext cx="347472" cy="274320"/>
          </a:xfrm>
          <a:prstGeom prst="roundRect">
            <a:avLst/>
          </a:prstGeom>
          <a:solidFill>
            <a:srgbClr val="F2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68312" y="4434840"/>
            <a:ext cx="34747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20" y="4434840"/>
            <a:ext cx="3063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Requestor: — · Assigned: Evelyn Rocha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0216" y="4764024"/>
            <a:ext cx="5257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2A4A"/>
                </a:solidFill>
                <a:latin typeface="Segoe UI"/>
              </a:defRPr>
            </a:pPr>
            <a:r>
              <a:t>318-[CPM-040] Project creation &amp; Massive Change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0216" y="5221224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FS done 12/05 Wating DEV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0216" y="5495544"/>
            <a:ext cx="21945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0BCD4"/>
                </a:solidFill>
                <a:latin typeface="Segoe UI"/>
              </a:defRPr>
            </a:pPr>
            <a:r>
              <a:t>In analysis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49839" y="5495544"/>
            <a:ext cx="1417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9E9E9E"/>
                </a:solidFill>
                <a:latin typeface="Segoe UI"/>
              </a:defRPr>
            </a:pPr>
            <a:r>
              <a:t>No due date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6007608"/>
            <a:ext cx="553212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5760" y="6007608"/>
            <a:ext cx="64008" cy="148132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93776" y="6117336"/>
            <a:ext cx="713232" cy="2743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3776" y="6117336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SCI-25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97480" y="6117336"/>
            <a:ext cx="30632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666666"/>
                </a:solidFill>
                <a:latin typeface="Segoe UI"/>
              </a:defRPr>
            </a:pPr>
            <a:r>
              <a:t>Requestor: — · Assigned: Evelyn Rocha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3776" y="6446520"/>
            <a:ext cx="5257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B2A4A"/>
                </a:solidFill>
                <a:latin typeface="Segoe UI"/>
              </a:defRPr>
            </a:pPr>
            <a:r>
              <a:t>New logic for provisional record for PO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3776" y="6903720"/>
            <a:ext cx="5257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Without RITM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3776" y="7178040"/>
            <a:ext cx="21945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0BCD4"/>
                </a:solidFill>
                <a:latin typeface="Segoe UI"/>
              </a:defRPr>
            </a:pPr>
            <a:r>
              <a:t>In analysis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43399" y="7178040"/>
            <a:ext cx="1417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9E9E9E"/>
                </a:solidFill>
                <a:latin typeface="Segoe UI"/>
              </a:defRPr>
            </a:pPr>
            <a:r>
              <a:t>No due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20116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0">
                <a:solidFill>
                  <a:srgbClr val="00BCD4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9326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TO DO (1/2)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891540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4892040"/>
                <a:gridCol w="1325880"/>
                <a:gridCol w="1325880"/>
                <a:gridCol w="71323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SCI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Task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Assigned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Requestor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Due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Implementation to Reports views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Evelyn Rocha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Jenn / Julia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Default PO Owner filtering and limitation of records displayed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Evelyn Rocha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Attachment Report external share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Jenn / Julia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Evaluate Job of Procurement FC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Carlos Olivencia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Check WBS_ID in Procurement FC internal table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Evelyn Rocha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Alec Bone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Review consistency between PROJNR and WBS in internal table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Evelyn Rocha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Alec Bone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Forecasting status revision under forescasting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CPM Additional Field Needed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SCI-27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Download RPC code from Procurement Forecasting / review CPM repo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Payment Request - Clearing of fields in duplication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20116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0">
                <a:solidFill>
                  <a:srgbClr val="00BCD4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9326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TO DO (2/2)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89154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4892040"/>
                <a:gridCol w="1325880"/>
                <a:gridCol w="1325880"/>
                <a:gridCol w="71323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SCI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Task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Assigned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Requestor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Due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SAP and SharePoint Template Upload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SCI-30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Always 2 decimals in the APP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Carlos Olivencia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20116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0">
                <a:solidFill>
                  <a:srgbClr val="00BCD4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9326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ALL TASKS — ORDERED BY STATUS (1/3)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10195559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3977639"/>
                <a:gridCol w="1325880"/>
                <a:gridCol w="960120"/>
                <a:gridCol w="347472"/>
                <a:gridCol w="658368"/>
                <a:gridCol w="1143000"/>
                <a:gridCol w="11247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SCI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Due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Assigned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Requestor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Forecasting Status errors - Forecast status is not updating once changes are…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A650"/>
                          </a:solidFill>
                          <a:latin typeface="Segoe UI"/>
                        </a:defRPr>
                      </a:pPr>
                      <a:r>
                        <a:t>Done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BreakFix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30-Apr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In the Procurement Foresting, the "Upload Provisional Cost" Download…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C7CDB"/>
                          </a:solidFill>
                          <a:latin typeface="Segoe UI"/>
                        </a:defRPr>
                      </a:pPr>
                      <a:r>
                        <a:t>Ready to move to RPC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BreakFix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22-May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Jenn / Bushan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Provisional Cost Record Upload - 5 fields template issue / Update the template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C7CDB"/>
                          </a:solidFill>
                          <a:latin typeface="Segoe UI"/>
                        </a:defRPr>
                      </a:pPr>
                      <a:r>
                        <a:t>Ready to move to RPC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22-May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Jenn / Bushan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Procurement Forecasting - Remaining Payments Year Adjustments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C7CDB"/>
                          </a:solidFill>
                          <a:latin typeface="Segoe UI"/>
                        </a:defRPr>
                      </a:pPr>
                      <a:r>
                        <a:t>Ready to move to RPC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22-May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Jenn / Julia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Optional WBS element in Provisional Records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C7CDB"/>
                          </a:solidFill>
                          <a:latin typeface="Segoe UI"/>
                        </a:defRPr>
                      </a:pPr>
                      <a:r>
                        <a:t>Ready to move to RPC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22-May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Jenn / Julia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SCI-07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Optional Vendor in Provisional Record manual creation (solves REQ1171550)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C7CDB"/>
                          </a:solidFill>
                          <a:latin typeface="Segoe UI"/>
                        </a:defRPr>
                      </a:pPr>
                      <a:r>
                        <a:t>Ready to move to RPC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22-May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Jenn / Julia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Automatic Reduction of Provisional Cost Records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C7CDB"/>
                          </a:solidFill>
                          <a:latin typeface="Segoe UI"/>
                        </a:defRPr>
                      </a:pPr>
                      <a:r>
                        <a:t>Ready to move to RPC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23-May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Jenn / Julia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Invalidate forecasting status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C7CDB"/>
                          </a:solidFill>
                          <a:latin typeface="Segoe UI"/>
                        </a:defRPr>
                      </a:pPr>
                      <a:r>
                        <a:t>Ready to move to RPC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Bug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23-May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Jenn / Julia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RITM1183406 - Filtering of down payments in procure forescating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C7CDB"/>
                          </a:solidFill>
                          <a:latin typeface="Segoe UI"/>
                        </a:defRPr>
                      </a:pPr>
                      <a:r>
                        <a:t>Ready to move to RPC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23-May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Jenn / Julia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Adjustments to the Procurement Forecasting Massive app (remaining payments)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3483FA"/>
                          </a:solidFill>
                          <a:latin typeface="Segoe UI"/>
                        </a:defRPr>
                      </a:pPr>
                      <a:r>
                        <a:t>In Development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23-May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Evelyn Rocha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Jenn / Julia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20116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0">
                <a:solidFill>
                  <a:srgbClr val="00BCD4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9326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ALL TASKS — ORDERED BY STATUS (2/3)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10195559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3977639"/>
                <a:gridCol w="1325880"/>
                <a:gridCol w="960120"/>
                <a:gridCol w="347472"/>
                <a:gridCol w="658368"/>
                <a:gridCol w="1143000"/>
                <a:gridCol w="11247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SCI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Due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Assigned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Requestor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Mass Procurement Forecasting - Eye Sore Adjustments (mail with massive change)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3483FA"/>
                          </a:solidFill>
                          <a:latin typeface="Segoe UI"/>
                        </a:defRPr>
                      </a:pPr>
                      <a:r>
                        <a:t>In Development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23-May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Evelyn Rocha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Alec Bone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Procurement forecasting - Individual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3483FA"/>
                          </a:solidFill>
                          <a:latin typeface="Segoe UI"/>
                        </a:defRPr>
                      </a:pPr>
                      <a:r>
                        <a:t>In Progress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Bug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Rol assigment - ask with AES Security Team if it´s ok to assign role to Caily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3483FA"/>
                          </a:solidFill>
                          <a:latin typeface="Segoe UI"/>
                        </a:defRPr>
                      </a:pPr>
                      <a:r>
                        <a:t>In Progress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Pablo…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PO 4501754428 - Sycamore Cross - MILL CREEK RENEWABLES LLC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3483FA"/>
                          </a:solidFill>
                          <a:latin typeface="Segoe UI"/>
                        </a:defRPr>
                      </a:pPr>
                      <a:r>
                        <a:t>In Progress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Bug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Carlos Olivencia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318-[CPM-040] Project creation &amp; Massive Change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In analysis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Evelyn Rocha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New logic for provisional record for PO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In analysis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Evelyn Rocha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Implementation to Reports views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Evelyn Rocha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Jenn / Julia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Default PO Owner filtering and limitation of records displayed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Evelyn Rocha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Attachment Report external share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Jenn / Julia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Evaluate Job of Procurement FC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Carlos Olivencia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20116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0">
                <a:solidFill>
                  <a:srgbClr val="00BCD4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9326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ALL TASKS — ORDERED BY STATUS (3/3)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1019555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3977639"/>
                <a:gridCol w="1325880"/>
                <a:gridCol w="960120"/>
                <a:gridCol w="347472"/>
                <a:gridCol w="658368"/>
                <a:gridCol w="1143000"/>
                <a:gridCol w="11247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SCI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Due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Assigned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Requestor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Check WBS_ID in Procurement FC internal table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Evelyn Rocha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Alec Bone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Review consistency between PROJNR and WBS in internal table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Evelyn Rocha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Alec Bone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Forecasting status revision under forescasting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Bug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CPM Additional Field Needed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SCI-27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Download RPC code from Procurement Forecasting / review CPM repo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Payment Request - Clearing of fields in duplication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SAP and SharePoint Template Upload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Enhacement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SCI-30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Always 2 decimals in the APP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Bug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Carlos Olivencia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20116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0">
                <a:solidFill>
                  <a:srgbClr val="00BCD4"/>
                </a:solidFill>
                <a:latin typeface="Segoe UI"/>
              </a:defRPr>
            </a:pPr>
            <a:r>
              <a:t>Cashflow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9326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PRIORITIZATION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23D4F"/>
                </a:solidFill>
                <a:latin typeface="Segoe UI"/>
              </a:defRPr>
            </a:pPr>
            <a:r>
              <a:t>Priority 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61872"/>
          <a:ext cx="6583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3063240"/>
                <a:gridCol w="1234440"/>
                <a:gridCol w="658368"/>
                <a:gridCol w="969264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SCI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Task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Due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Assigned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Procurement Forecasting - Remaining Payments Year Adjustments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9C7CDB"/>
                          </a:solidFill>
                          <a:latin typeface="Segoe UI"/>
                        </a:defRPr>
                      </a:pPr>
                      <a:r>
                        <a:t>Ready to move to RPC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22-May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SCI-06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Optional WBS element in Provisional Records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9C7CDB"/>
                          </a:solidFill>
                          <a:latin typeface="Segoe UI"/>
                        </a:defRPr>
                      </a:pPr>
                      <a:r>
                        <a:t>Ready to move to RPC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22-May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SCI-07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Optional Vendor in Provisional Record manual creation (solves…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9C7CDB"/>
                          </a:solidFill>
                          <a:latin typeface="Segoe UI"/>
                        </a:defRPr>
                      </a:pPr>
                      <a:r>
                        <a:t>Ready to move to RPC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22-May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Automatic Reduction of Provisional Cost Records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9C7CDB"/>
                          </a:solidFill>
                          <a:latin typeface="Segoe UI"/>
                        </a:defRPr>
                      </a:pPr>
                      <a:r>
                        <a:t>Ready to move to RPC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23-May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PO 4501754428 - Sycamore Cross - MILL CREEK RENEWABLES LLC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3483FA"/>
                          </a:solidFill>
                          <a:latin typeface="Segoe UI"/>
                        </a:defRPr>
                      </a:pPr>
                      <a:r>
                        <a:t>In Progress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Camilo Amaury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318-[CPM-040] Project creation &amp; Massive Change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In analysis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Evelyn Rocha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63640" y="932688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3483FA"/>
                </a:solidFill>
                <a:latin typeface="Segoe UI"/>
              </a:defRPr>
            </a:pPr>
            <a:r>
              <a:t>Other priorities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261872"/>
          <a:ext cx="5660136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788920"/>
                <a:gridCol w="411480"/>
                <a:gridCol w="1143000"/>
                <a:gridCol w="658368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SCI</a:t>
                      </a:r>
                    </a:p>
                  </a:txBody>
                  <a:tcPr anchor="ctr" marL="50800" marR="50800" marT="25400" marB="25400">
                    <a:solidFill>
                      <a:srgbClr val="7890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Task</a:t>
                      </a:r>
                    </a:p>
                  </a:txBody>
                  <a:tcPr anchor="ctr" marL="50800" marR="50800" marT="25400" marB="25400">
                    <a:solidFill>
                      <a:srgbClr val="7890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</a:t>
                      </a:r>
                    </a:p>
                  </a:txBody>
                  <a:tcPr anchor="ctr" marL="50800" marR="50800" marT="25400" marB="25400">
                    <a:solidFill>
                      <a:srgbClr val="7890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 marL="50800" marR="50800" marT="25400" marB="25400">
                    <a:solidFill>
                      <a:srgbClr val="78909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Due</a:t>
                      </a:r>
                    </a:p>
                  </a:txBody>
                  <a:tcPr anchor="ctr" marL="50800" marR="50800" marT="25400" marB="25400">
                    <a:solidFill>
                      <a:srgbClr val="78909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Forecasting Status errors - Forecast status is not updating once…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A650"/>
                          </a:solidFill>
                          <a:latin typeface="Segoe UI"/>
                        </a:defRPr>
                      </a:pPr>
                      <a:r>
                        <a:t>Done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30-Apr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In the Procurement Foresting, the "Upload Provisional Cost"…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9C7CDB"/>
                          </a:solidFill>
                          <a:latin typeface="Segoe UI"/>
                        </a:defRPr>
                      </a:pPr>
                      <a:r>
                        <a:t>Ready to move to RPC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22-May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Provisional Cost Record Upload - 5 fields template issue / Update…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9C7CDB"/>
                          </a:solidFill>
                          <a:latin typeface="Segoe UI"/>
                        </a:defRPr>
                      </a:pPr>
                      <a:r>
                        <a:t>Ready to move to RPC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22-May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Implementation to Reports views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SCI-08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Default PO Owner filtering and limitation of records displayed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Adjustments to the Procurement Forecasting Massive app (remaining…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P3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3483FA"/>
                          </a:solidFill>
                          <a:latin typeface="Segoe UI"/>
                        </a:defRPr>
                      </a:pPr>
                      <a:r>
                        <a:t>In Development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23-May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SCI-11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Attachment Report external share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Mass Procurement Forecasting - Eye Sore Adjustments (mail with…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P2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3483FA"/>
                          </a:solidFill>
                          <a:latin typeface="Segoe UI"/>
                        </a:defRPr>
                      </a:pPr>
                      <a:r>
                        <a:t>In Development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23-May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Evaluate Job of Procurement FC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Check WBS_ID in Procurement FC internal table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SCI-15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Review consistency between PROJNR and WBS in internal table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9E9E9E"/>
                          </a:solidFill>
                          <a:latin typeface="Segoe UI"/>
                        </a:defRPr>
                      </a:pPr>
                      <a:r>
                        <a:t>To Do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SCI-18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Procurement forecasting - Individual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3483FA"/>
                          </a:solidFill>
                          <a:latin typeface="Segoe UI"/>
                        </a:defRPr>
                      </a:pPr>
                      <a:r>
                        <a:t>In Progress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SCI-19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Rol assigment - ask with AES Security Team if it´s ok to assign…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3483FA"/>
                          </a:solidFill>
                          <a:latin typeface="Segoe UI"/>
                        </a:defRPr>
                      </a:pPr>
                      <a:r>
                        <a:t>In Progress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TBD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00BCD4"/>
                          </a:solidFill>
                          <a:latin typeface="Segoe UI"/>
                        </a:defRPr>
                      </a:pPr>
                      <a:r>
                        <a:t>SCI-20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Invalidate forecasting status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B2A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9C7CDB"/>
                          </a:solidFill>
                          <a:latin typeface="Segoe UI"/>
                        </a:defRPr>
                      </a:pPr>
                      <a:r>
                        <a:t>Ready to move to RPC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7733"/>
                          </a:solidFill>
                          <a:latin typeface="Segoe UI"/>
                        </a:defRPr>
                      </a:pPr>
                      <a:r>
                        <a:t>23-May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914400"/>
            <a:ext cx="4389120" cy="4389120"/>
          </a:xfrm>
          <a:prstGeom prst="ellipse">
            <a:avLst/>
          </a:prstGeom>
          <a:solidFill>
            <a:srgbClr val="D6E4F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754880"/>
            <a:ext cx="3200400" cy="3200400"/>
          </a:xfrm>
          <a:prstGeom prst="ellipse">
            <a:avLst/>
          </a:prstGeom>
          <a:solidFill>
            <a:srgbClr val="D0F0F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>
                <a:solidFill>
                  <a:srgbClr val="1B2A4A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5029200" cy="27432"/>
          </a:xfrm>
          <a:prstGeom prst="rect">
            <a:avLst/>
          </a:prstGeom>
          <a:solidFill>
            <a:srgbClr val="C0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Cashflow Project Team · May 29, 2026</a:t>
            </a:r>
          </a:p>
        </p:txBody>
      </p:sp>
      <p:pic>
        <p:nvPicPr>
          <p:cNvPr id="8" name="Picture 7" descr="ae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5257800"/>
            <a:ext cx="2926080" cy="1600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